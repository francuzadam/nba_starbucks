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60"/>
  </p:normalViewPr>
  <p:slideViewPr>
    <p:cSldViewPr snapToGrid="0">
      <p:cViewPr>
        <p:scale>
          <a:sx n="100" d="100"/>
          <a:sy n="100" d="100"/>
        </p:scale>
        <p:origin x="96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6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accent6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hu-H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Given offer</c:v>
                </c:pt>
                <c:pt idx="1">
                  <c:v>Best single offer</c:v>
                </c:pt>
                <c:pt idx="2">
                  <c:v>NBA pick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0.39400000000000002</c:v>
                </c:pt>
                <c:pt idx="1">
                  <c:v>0.64700000000000002</c:v>
                </c:pt>
                <c:pt idx="2">
                  <c:v>0.67700000000000005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A2-4FE4-BCAC-51D69120F4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34"/>
        <c:axId val="1940877424"/>
        <c:axId val="2051434448"/>
      </c:barChart>
      <c:catAx>
        <c:axId val="19408774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2051434448"/>
        <c:crosses val="autoZero"/>
        <c:auto val="1"/>
        <c:lblAlgn val="ctr"/>
        <c:lblOffset val="100"/>
        <c:noMultiLvlLbl val="0"/>
      </c:catAx>
      <c:valAx>
        <c:axId val="2051434448"/>
        <c:scaling>
          <c:orientation val="minMax"/>
        </c:scaling>
        <c:delete val="1"/>
        <c:axPos val="b"/>
        <c:numFmt formatCode="0.00%" sourceLinked="1"/>
        <c:majorTickMark val="none"/>
        <c:minorTickMark val="none"/>
        <c:tickLblPos val="nextTo"/>
        <c:crossAx val="19408774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8AECF6-2BFC-4D35-A158-F162072FF9C9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B0720-2105-490B-B9BA-055360250BA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42052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B0720-2105-490B-B9BA-055360250BAD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82245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103E7-8D5F-7F55-4CD1-93EFE5861F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u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09FB14-7F1D-ED61-1E1C-5DB7123019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DC82A-4C8D-D65E-CEC8-BCE7A1651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137C-4678-41CD-BFB8-9E16EFD5B54F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9F2DA-325F-197F-BA58-B70223E19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AA3F8-463F-C0DC-D344-55E4F87BE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C6A43-2489-4A2D-9101-30CE6EE2A5B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48451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5B883-7552-0B0E-BD7F-3F9EBA47F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FF6DF-9E1E-5336-092B-224DECE45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B895D-22F3-AF7F-C164-56B4A216D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137C-4678-41CD-BFB8-9E16EFD5B54F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5DE4D-BDF6-0A00-279C-CE5D7D23C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5C94C-487F-72A9-56F7-642B0F9C3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C6A43-2489-4A2D-9101-30CE6EE2A5B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22414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55221-AD18-88D8-EB92-79A952F29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AFA93-D8F4-CA4D-3809-E08CE6F3C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0C1AD-4116-16C9-30AD-1EA7B0FE0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137C-4678-41CD-BFB8-9E16EFD5B54F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3E446-2167-1D9C-B09B-11A4352A0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33124-DD16-B522-E701-A1FC6140A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C6A43-2489-4A2D-9101-30CE6EE2A5B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9175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E212-D945-EB65-F27C-DD8F2D8CE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795D2-F0D4-6F87-CB9A-905BA19FF1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u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4AC968-3DC5-C9AA-7030-5AC065A48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u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2EA84D-AEF1-A5EC-6192-AA73FA44F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137C-4678-41CD-BFB8-9E16EFD5B54F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BBA60E-2779-CF7A-98DB-FE7239AD1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147D0-E582-803F-5249-12457AE69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C6A43-2489-4A2D-9101-30CE6EE2A5B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20538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4FFCF-AE0E-A626-30A8-496B75341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887402-F134-FB2C-3C2C-0B761355C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686393-0F2C-4F3A-89D5-16EFAA65BB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u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540D3C-A70E-2EDE-D128-B876D4A8A6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2B4104-2F99-AEA3-09D6-FB18F7FE7C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u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3DA1AB-6775-9CCD-8CC8-5FC176D6E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137C-4678-41CD-BFB8-9E16EFD5B54F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2B3846-D944-5E2C-A397-B3A09B57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8B16EA-C691-B09E-977C-B39BEF3E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C6A43-2489-4A2D-9101-30CE6EE2A5B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13450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AFA61-ED39-2ED8-8DCE-A9B04F888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4C55F5-FC38-B650-0A94-A0A077A23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137C-4678-41CD-BFB8-9E16EFD5B54F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355B38-41A9-95EC-3886-CB127A0A8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0226CB-3168-9ACF-5513-391784BA0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C6A43-2489-4A2D-9101-30CE6EE2A5B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31668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DA6BF8-6A5F-FE89-DFF0-68B5AA9BB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137C-4678-41CD-BFB8-9E16EFD5B54F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7B4CA6-DA60-41FC-DF53-544D6BF3A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C218F-46D6-9916-F789-AD8C36AEB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C6A43-2489-4A2D-9101-30CE6EE2A5B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4045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E3B65-C3E3-51F4-462F-CBCABDD04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6583D-E44E-5A63-52BF-57100CE81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05915F-A966-9E9D-9A3E-8CE9E6F42C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D8099F-9429-6D15-D060-6530A1DE1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137C-4678-41CD-BFB8-9E16EFD5B54F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23C611-507C-90B0-D038-CB12ADC29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45550F-9028-3773-59AF-5663E383A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C6A43-2489-4A2D-9101-30CE6EE2A5B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65212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90B70-F7C8-BAE7-B0E0-D05E69F18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u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9735EC-D17A-265E-819C-19726A4B58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F04B64-432A-E40B-FA70-5B860E331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216B5E-57C7-C479-CEE1-228248F9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137C-4678-41CD-BFB8-9E16EFD5B54F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CD1F6-C5C7-82E8-34A7-F62C7D29E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FC254A-A807-2C70-7DE1-532A98C23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C6A43-2489-4A2D-9101-30CE6EE2A5B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16548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464E9-D8B0-2210-052F-4EC2CC731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FB052A-0918-4061-5A56-6A629535C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2B407-9D8A-99EE-A88D-7D3442DEA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137C-4678-41CD-BFB8-9E16EFD5B54F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E120C-CEEF-58FC-2DF4-8FC04F4A7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FF54F-4229-D465-1F86-2E7533AC7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C6A43-2489-4A2D-9101-30CE6EE2A5B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1899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CFBCFA-E698-625C-CC9C-7E1B443813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DEABA0-7527-9DC6-45F7-0599FF3F68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3A2E5-7CD5-528B-12D2-F8E6CB086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137C-4678-41CD-BFB8-9E16EFD5B54F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4C9D3-EDB7-7001-BA6B-F33346CF3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6E0B1-2AD6-88F8-C8E1-FC2AB2B6A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C6A43-2489-4A2D-9101-30CE6EE2A5B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87186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199981-90E2-8E50-C270-6B685B0C4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36C13-8502-2DC0-C043-687A218B4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463CA-5EAE-69BD-D14A-2688E7ED1D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F0137C-4678-41CD-BFB8-9E16EFD5B54F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40E49-74B5-20B1-5108-B6DECFBF94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E8F47-AED3-EB44-2E4C-FB355376E2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C6A43-2489-4A2D-9101-30CE6EE2A5B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55830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1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42B464C-907E-32F0-4762-75B0810F5A50}"/>
              </a:ext>
            </a:extLst>
          </p:cNvPr>
          <p:cNvSpPr/>
          <p:nvPr/>
        </p:nvSpPr>
        <p:spPr>
          <a:xfrm>
            <a:off x="7982299" y="5378289"/>
            <a:ext cx="3376997" cy="119503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hu-HU" sz="1400" b="1" i="1" u="sng" noProof="1">
                <a:solidFill>
                  <a:schemeClr val="accent6">
                    <a:lumMod val="50000"/>
                  </a:schemeClr>
                </a:solidFill>
              </a:rPr>
              <a:t>Transcript dataset</a:t>
            </a:r>
          </a:p>
          <a:p>
            <a:pPr algn="ctr">
              <a:spcAft>
                <a:spcPts val="600"/>
              </a:spcAft>
            </a:pPr>
            <a:r>
              <a:rPr lang="hu-HU" sz="2800" b="1" noProof="1">
                <a:solidFill>
                  <a:schemeClr val="accent6">
                    <a:lumMod val="50000"/>
                  </a:schemeClr>
                </a:solidFill>
              </a:rPr>
              <a:t>306k</a:t>
            </a:r>
          </a:p>
          <a:p>
            <a:pPr algn="ctr"/>
            <a:r>
              <a:rPr lang="hu-HU" sz="1600" i="1" noProof="1">
                <a:solidFill>
                  <a:schemeClr val="accent6">
                    <a:lumMod val="50000"/>
                  </a:schemeClr>
                </a:solidFill>
              </a:rPr>
              <a:t>log events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E04E92-4EE8-7A16-ECD2-03EC495FE6CE}"/>
              </a:ext>
            </a:extLst>
          </p:cNvPr>
          <p:cNvSpPr txBox="1"/>
          <p:nvPr/>
        </p:nvSpPr>
        <p:spPr>
          <a:xfrm>
            <a:off x="585216" y="220486"/>
            <a:ext cx="63377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noProof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Starbucks Promotional Offers – NBA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1711B7-C8D5-33F8-E38B-956F6580B5EB}"/>
              </a:ext>
            </a:extLst>
          </p:cNvPr>
          <p:cNvSpPr/>
          <p:nvPr/>
        </p:nvSpPr>
        <p:spPr>
          <a:xfrm>
            <a:off x="0" y="80989"/>
            <a:ext cx="585216" cy="74066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noProof="1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Picture 4" descr="Betsson Group - YouTube">
            <a:extLst>
              <a:ext uri="{FF2B5EF4-FFF2-40B4-BE49-F238E27FC236}">
                <a16:creationId xmlns:a16="http://schemas.microsoft.com/office/drawing/2014/main" id="{0C5635D2-5C9E-C4E7-D023-D011F75123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2" t="33000" r="-712" b="27675"/>
          <a:stretch>
            <a:fillRect/>
          </a:stretch>
        </p:blipFill>
        <p:spPr>
          <a:xfrm>
            <a:off x="10675827" y="182550"/>
            <a:ext cx="1366939" cy="537535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CC68E14A-6107-A34C-71D7-B8010BDD7CAE}"/>
              </a:ext>
            </a:extLst>
          </p:cNvPr>
          <p:cNvGrpSpPr/>
          <p:nvPr/>
        </p:nvGrpSpPr>
        <p:grpSpPr>
          <a:xfrm>
            <a:off x="896299" y="857736"/>
            <a:ext cx="10462998" cy="1187124"/>
            <a:chOff x="585215" y="1070878"/>
            <a:chExt cx="10462998" cy="118712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2225188-E728-B313-C05E-B53DA66CE1BF}"/>
                </a:ext>
              </a:extLst>
            </p:cNvPr>
            <p:cNvSpPr/>
            <p:nvPr/>
          </p:nvSpPr>
          <p:spPr>
            <a:xfrm>
              <a:off x="585215" y="1070878"/>
              <a:ext cx="10462998" cy="1187124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hu-HU" sz="1600" b="1" noProof="1"/>
                <a:t>	</a:t>
              </a:r>
              <a:r>
                <a:rPr lang="hu-HU" b="1" u="sng" noProof="1"/>
                <a:t>Problem definition</a:t>
              </a:r>
            </a:p>
            <a:p>
              <a:pPr algn="just"/>
              <a:r>
                <a:rPr lang="hu-HU" sz="1600" noProof="1"/>
                <a:t>	</a:t>
              </a:r>
              <a:r>
                <a:rPr lang="en-US" sz="1600" noProof="1"/>
                <a:t>In the FMCG sector, promotions are often sent out broadly or with little targeting, without taking into </a:t>
              </a:r>
              <a:r>
                <a:rPr lang="hu-HU" sz="1600" noProof="1"/>
                <a:t>	</a:t>
              </a:r>
              <a:r>
                <a:rPr lang="en-US" sz="1600" noProof="1"/>
                <a:t>account who receives them.</a:t>
              </a:r>
              <a:endParaRPr lang="hu-HU" sz="1600" noProof="1"/>
            </a:p>
          </p:txBody>
        </p:sp>
        <p:pic>
          <p:nvPicPr>
            <p:cNvPr id="27" name="Graphic 26" descr="Brainstorm with solid fill">
              <a:extLst>
                <a:ext uri="{FF2B5EF4-FFF2-40B4-BE49-F238E27FC236}">
                  <a16:creationId xmlns:a16="http://schemas.microsoft.com/office/drawing/2014/main" id="{8F178007-A8D5-D4A3-9B48-7C98C071B946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96013" y="1214440"/>
              <a:ext cx="900000" cy="90000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7935E23-AEEC-A4E8-DA01-697C138A850D}"/>
              </a:ext>
            </a:extLst>
          </p:cNvPr>
          <p:cNvGrpSpPr/>
          <p:nvPr/>
        </p:nvGrpSpPr>
        <p:grpSpPr>
          <a:xfrm>
            <a:off x="896298" y="2208034"/>
            <a:ext cx="10462999" cy="1187124"/>
            <a:chOff x="585214" y="2564130"/>
            <a:chExt cx="10462999" cy="118712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96E742CD-CD3E-B5FA-7C3B-6738007DDA8D}"/>
                </a:ext>
              </a:extLst>
            </p:cNvPr>
            <p:cNvSpPr/>
            <p:nvPr/>
          </p:nvSpPr>
          <p:spPr>
            <a:xfrm>
              <a:off x="585214" y="2564130"/>
              <a:ext cx="10462999" cy="1187124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hu-HU" b="1" noProof="1"/>
                <a:t>	</a:t>
              </a:r>
              <a:r>
                <a:rPr lang="hu-HU" b="1" u="sng" noProof="1"/>
                <a:t>Use Case</a:t>
              </a:r>
            </a:p>
            <a:p>
              <a:r>
                <a:rPr lang="hu-HU" sz="1600" noProof="1"/>
                <a:t>	</a:t>
              </a:r>
              <a:r>
                <a:rPr lang="en-US" sz="1600" noProof="1"/>
                <a:t>Using existing customer and transaction data, a LightGBM model predicts the probability of success for </a:t>
              </a:r>
              <a:r>
                <a:rPr lang="hu-HU" sz="1600" noProof="1"/>
                <a:t>	</a:t>
              </a:r>
              <a:r>
                <a:rPr lang="en-US" sz="1600" noProof="1"/>
                <a:t>every customer and every offer. The Next Best Action (NBA) step then selects the best offer for each </a:t>
              </a:r>
              <a:r>
                <a:rPr lang="hu-HU" sz="1600" noProof="1"/>
                <a:t>	</a:t>
              </a:r>
              <a:r>
                <a:rPr lang="en-US" sz="1600" noProof="1"/>
                <a:t>customer.</a:t>
              </a:r>
              <a:endParaRPr lang="hu-HU" sz="1600" noProof="1"/>
            </a:p>
          </p:txBody>
        </p:sp>
        <p:pic>
          <p:nvPicPr>
            <p:cNvPr id="29" name="Graphic 28" descr="Bullseye with solid fill">
              <a:extLst>
                <a:ext uri="{FF2B5EF4-FFF2-40B4-BE49-F238E27FC236}">
                  <a16:creationId xmlns:a16="http://schemas.microsoft.com/office/drawing/2014/main" id="{0734300D-D6B3-C588-4002-8920D1E7E30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96013" y="2707692"/>
              <a:ext cx="900000" cy="900000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85EE0D9-E8D1-FA7B-679C-55EE7B1A55AD}"/>
              </a:ext>
            </a:extLst>
          </p:cNvPr>
          <p:cNvGrpSpPr/>
          <p:nvPr/>
        </p:nvGrpSpPr>
        <p:grpSpPr>
          <a:xfrm>
            <a:off x="896298" y="3558332"/>
            <a:ext cx="10462999" cy="1693534"/>
            <a:chOff x="896298" y="3658448"/>
            <a:chExt cx="10462999" cy="1693534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9D3B4E9B-20CB-BF90-EC0A-8D33719FDE1B}"/>
                </a:ext>
              </a:extLst>
            </p:cNvPr>
            <p:cNvSpPr/>
            <p:nvPr/>
          </p:nvSpPr>
          <p:spPr>
            <a:xfrm>
              <a:off x="896298" y="3658448"/>
              <a:ext cx="10462999" cy="1693534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hu-HU" b="1" noProof="1"/>
                <a:t>	</a:t>
              </a:r>
              <a:r>
                <a:rPr lang="hu-HU" b="1" u="sng" noProof="1"/>
                <a:t>Dataset</a:t>
              </a:r>
            </a:p>
            <a:p>
              <a:r>
                <a:rPr lang="hu-HU" sz="1600" noProof="1"/>
                <a:t>	The Starbucks Promotional Offers dataset is publicly available and was downloaded from Kaggle. It 	contains customer profiles, offer details and an event log, which allows rich feature engineering, building 	a model for offer success, and developing a Next Best Action step on top of it.</a:t>
              </a:r>
              <a:br>
                <a:rPr lang="hu-HU" sz="1600" noProof="1"/>
              </a:br>
              <a:r>
                <a:rPr lang="hu-HU" sz="1600" noProof="1"/>
                <a:t>	I chose this dataset because </a:t>
              </a:r>
              <a:r>
                <a:rPr lang="hu-HU" sz="1600" b="1" noProof="1"/>
                <a:t>it ties machine learning directly to business value</a:t>
              </a:r>
              <a:r>
                <a:rPr lang="hu-HU" sz="1600" noProof="1"/>
                <a:t>. It also let me present a 	complete ML pipeline, from raw event logs to a deployable recommendation step.</a:t>
              </a:r>
            </a:p>
          </p:txBody>
        </p:sp>
        <p:pic>
          <p:nvPicPr>
            <p:cNvPr id="6" name="Graphic 5" descr="Database with solid fill">
              <a:extLst>
                <a:ext uri="{FF2B5EF4-FFF2-40B4-BE49-F238E27FC236}">
                  <a16:creationId xmlns:a16="http://schemas.microsoft.com/office/drawing/2014/main" id="{87ADDE4E-C1D5-53CB-2C79-D79ACB3ED6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07097" y="4052473"/>
              <a:ext cx="900000" cy="900000"/>
            </a:xfrm>
            <a:prstGeom prst="rect">
              <a:avLst/>
            </a:prstGeom>
          </p:spPr>
        </p:pic>
      </p:grp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CAA1535-A546-574A-0E22-6CB30E5C0C80}"/>
              </a:ext>
            </a:extLst>
          </p:cNvPr>
          <p:cNvSpPr/>
          <p:nvPr/>
        </p:nvSpPr>
        <p:spPr>
          <a:xfrm>
            <a:off x="896298" y="5382885"/>
            <a:ext cx="3376997" cy="119503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hu-HU" sz="1400" b="1" i="1" u="sng" noProof="1">
                <a:solidFill>
                  <a:schemeClr val="accent6">
                    <a:lumMod val="50000"/>
                  </a:schemeClr>
                </a:solidFill>
              </a:rPr>
              <a:t>Portfolio dataset</a:t>
            </a:r>
          </a:p>
          <a:p>
            <a:pPr algn="ctr">
              <a:spcAft>
                <a:spcPts val="600"/>
              </a:spcAft>
            </a:pPr>
            <a:r>
              <a:rPr lang="hu-HU" sz="2800" b="1" noProof="1">
                <a:solidFill>
                  <a:schemeClr val="accent6">
                    <a:lumMod val="50000"/>
                  </a:schemeClr>
                </a:solidFill>
              </a:rPr>
              <a:t>10</a:t>
            </a:r>
          </a:p>
          <a:p>
            <a:pPr algn="ctr"/>
            <a:r>
              <a:rPr lang="hu-HU" sz="1600" i="1" noProof="1">
                <a:solidFill>
                  <a:schemeClr val="accent6">
                    <a:lumMod val="50000"/>
                  </a:schemeClr>
                </a:solidFill>
              </a:rPr>
              <a:t>offers with 3 different types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42B9380-265E-1223-B480-EE6C5F2CBF32}"/>
              </a:ext>
            </a:extLst>
          </p:cNvPr>
          <p:cNvSpPr/>
          <p:nvPr/>
        </p:nvSpPr>
        <p:spPr>
          <a:xfrm>
            <a:off x="4439298" y="5378289"/>
            <a:ext cx="3376997" cy="119503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hu-HU" sz="1400" b="1" i="1" u="sng" noProof="1">
                <a:solidFill>
                  <a:schemeClr val="accent6">
                    <a:lumMod val="50000"/>
                  </a:schemeClr>
                </a:solidFill>
              </a:rPr>
              <a:t>Profile dataset</a:t>
            </a:r>
          </a:p>
          <a:p>
            <a:pPr algn="ctr">
              <a:spcAft>
                <a:spcPts val="600"/>
              </a:spcAft>
            </a:pPr>
            <a:r>
              <a:rPr lang="hu-HU" sz="2800" b="1" noProof="1">
                <a:solidFill>
                  <a:schemeClr val="accent6">
                    <a:lumMod val="50000"/>
                  </a:schemeClr>
                </a:solidFill>
              </a:rPr>
              <a:t>17k</a:t>
            </a:r>
          </a:p>
          <a:p>
            <a:pPr algn="ctr"/>
            <a:r>
              <a:rPr lang="hu-HU" sz="1600" i="1" noProof="1">
                <a:solidFill>
                  <a:schemeClr val="accent6">
                    <a:lumMod val="50000"/>
                  </a:schemeClr>
                </a:solidFill>
              </a:rPr>
              <a:t>different customer profile</a:t>
            </a:r>
          </a:p>
        </p:txBody>
      </p:sp>
      <p:pic>
        <p:nvPicPr>
          <p:cNvPr id="16" name="Graphic 15" descr="Table with solid fill">
            <a:extLst>
              <a:ext uri="{FF2B5EF4-FFF2-40B4-BE49-F238E27FC236}">
                <a16:creationId xmlns:a16="http://schemas.microsoft.com/office/drawing/2014/main" id="{51CE4A23-9EB1-F2FF-B3D4-4D524B95E8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96743" y="5432337"/>
            <a:ext cx="504000" cy="504000"/>
          </a:xfrm>
          <a:prstGeom prst="rect">
            <a:avLst/>
          </a:prstGeom>
        </p:spPr>
      </p:pic>
      <p:pic>
        <p:nvPicPr>
          <p:cNvPr id="19" name="Graphic 18" descr="Group of men with solid fill">
            <a:extLst>
              <a:ext uri="{FF2B5EF4-FFF2-40B4-BE49-F238E27FC236}">
                <a16:creationId xmlns:a16="http://schemas.microsoft.com/office/drawing/2014/main" id="{4AC86577-4DB6-88FB-BEA7-F4D70CD116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49067" y="5432337"/>
            <a:ext cx="504000" cy="504000"/>
          </a:xfrm>
          <a:prstGeom prst="rect">
            <a:avLst/>
          </a:prstGeom>
        </p:spPr>
      </p:pic>
      <p:pic>
        <p:nvPicPr>
          <p:cNvPr id="21" name="Graphic 20" descr="Tag with solid fill">
            <a:extLst>
              <a:ext uri="{FF2B5EF4-FFF2-40B4-BE49-F238E27FC236}">
                <a16:creationId xmlns:a16="http://schemas.microsoft.com/office/drawing/2014/main" id="{5DA98A0D-4898-52DA-BA82-8DC2B02D54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92295" y="5432337"/>
            <a:ext cx="504000" cy="5040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CDEEF2A-70F3-7D60-41CA-16FE35C67396}"/>
              </a:ext>
            </a:extLst>
          </p:cNvPr>
          <p:cNvSpPr txBox="1"/>
          <p:nvPr/>
        </p:nvSpPr>
        <p:spPr>
          <a:xfrm>
            <a:off x="9188087" y="6611779"/>
            <a:ext cx="28546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000" i="1" noProof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Created by Adam Francuz – 1 October 2026</a:t>
            </a:r>
          </a:p>
        </p:txBody>
      </p:sp>
    </p:spTree>
    <p:extLst>
      <p:ext uri="{BB962C8B-B14F-4D97-AF65-F5344CB8AC3E}">
        <p14:creationId xmlns:p14="http://schemas.microsoft.com/office/powerpoint/2010/main" val="3674442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38772-12E1-1CE3-A3B9-BEA92BCF7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813C0E-2B4D-64F2-DBF8-F317A03CEA80}"/>
              </a:ext>
            </a:extLst>
          </p:cNvPr>
          <p:cNvSpPr txBox="1"/>
          <p:nvPr/>
        </p:nvSpPr>
        <p:spPr>
          <a:xfrm>
            <a:off x="585216" y="220486"/>
            <a:ext cx="63377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b="1" noProof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Starbucks Promotional Offers – NBA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212D0B-3A17-AFD0-A4E2-EA966101C18C}"/>
              </a:ext>
            </a:extLst>
          </p:cNvPr>
          <p:cNvSpPr/>
          <p:nvPr/>
        </p:nvSpPr>
        <p:spPr>
          <a:xfrm>
            <a:off x="0" y="80989"/>
            <a:ext cx="585216" cy="74066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noProof="1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Picture 4" descr="Betsson Group - YouTube">
            <a:extLst>
              <a:ext uri="{FF2B5EF4-FFF2-40B4-BE49-F238E27FC236}">
                <a16:creationId xmlns:a16="http://schemas.microsoft.com/office/drawing/2014/main" id="{A19F31B5-0349-09B2-DD83-3A2B1AFAD2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2" t="33000" r="-712" b="27675"/>
          <a:stretch>
            <a:fillRect/>
          </a:stretch>
        </p:blipFill>
        <p:spPr>
          <a:xfrm>
            <a:off x="10675827" y="182550"/>
            <a:ext cx="1366939" cy="537535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8A37625-B381-5A6A-D8B2-90671FA59F7E}"/>
              </a:ext>
            </a:extLst>
          </p:cNvPr>
          <p:cNvSpPr/>
          <p:nvPr/>
        </p:nvSpPr>
        <p:spPr>
          <a:xfrm>
            <a:off x="891540" y="999087"/>
            <a:ext cx="4352544" cy="85219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76000"/>
            <a:r>
              <a:rPr lang="hu-HU" sz="1600" b="1" noProof="1"/>
              <a:t>Key steps in designing the solution:</a:t>
            </a:r>
            <a:endParaRPr lang="hu-HU" sz="1600" noProof="1"/>
          </a:p>
        </p:txBody>
      </p:sp>
      <p:pic>
        <p:nvPicPr>
          <p:cNvPr id="21" name="Graphic 20" descr="Workflow with solid fill">
            <a:extLst>
              <a:ext uri="{FF2B5EF4-FFF2-40B4-BE49-F238E27FC236}">
                <a16:creationId xmlns:a16="http://schemas.microsoft.com/office/drawing/2014/main" id="{C57C9AC4-14B7-FDFC-3D65-27363A082A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8220" y="1138589"/>
            <a:ext cx="576000" cy="576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F9ED0BA-6036-91BF-7689-A3143399A4E8}"/>
              </a:ext>
            </a:extLst>
          </p:cNvPr>
          <p:cNvSpPr txBox="1"/>
          <p:nvPr/>
        </p:nvSpPr>
        <p:spPr>
          <a:xfrm>
            <a:off x="91440" y="1854189"/>
            <a:ext cx="615391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b="1" u="sng" noProof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Data preprocessing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hu-HU" sz="1600" noProof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Create EDA to gain a knowledge of the raw data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hu-HU" sz="1600" noProof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Merge the datasets into a processed .csv file to prepare the model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hu-HU" sz="1600" noProof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Handle the missing, noisy values and outliers (for instance in the age and gender columns)</a:t>
            </a:r>
          </a:p>
          <a:p>
            <a:pPr lvl="1"/>
            <a:endParaRPr lang="hu-HU" sz="1600" noProof="1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BD466D-0C8C-3DA5-A1F4-A3E2657A9DF0}"/>
              </a:ext>
            </a:extLst>
          </p:cNvPr>
          <p:cNvSpPr txBox="1"/>
          <p:nvPr/>
        </p:nvSpPr>
        <p:spPr>
          <a:xfrm>
            <a:off x="91440" y="3379168"/>
            <a:ext cx="61539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b="1" u="sng" noProof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Feature engineering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hu-HU" sz="1600" noProof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Define target variable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hu-HU" sz="1600" noProof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Create more useful features that describe the previous behaviour of the customer</a:t>
            </a:r>
          </a:p>
          <a:p>
            <a:pPr lvl="1"/>
            <a:endParaRPr lang="hu-HU" sz="1600" noProof="1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A01003-172E-A488-322D-6611B9DEC42C}"/>
              </a:ext>
            </a:extLst>
          </p:cNvPr>
          <p:cNvSpPr txBox="1"/>
          <p:nvPr/>
        </p:nvSpPr>
        <p:spPr>
          <a:xfrm>
            <a:off x="91440" y="4411704"/>
            <a:ext cx="615391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b="1" u="sng" noProof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Training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hu-HU" sz="1600" noProof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Build a LightGBM classification model and calculate metrics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hu-HU" sz="1600" noProof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In the test set, calculate the offer success rate for different situations</a:t>
            </a:r>
          </a:p>
          <a:p>
            <a:pPr lvl="1"/>
            <a:endParaRPr lang="hu-HU" sz="1600" noProof="1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lvl="1"/>
            <a:endParaRPr lang="hu-HU" sz="1600" noProof="1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lvl="1"/>
            <a:endParaRPr lang="hu-HU" sz="1600" noProof="1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99AB896-9B3C-848F-4CC1-10B64CF365AD}"/>
              </a:ext>
            </a:extLst>
          </p:cNvPr>
          <p:cNvSpPr txBox="1"/>
          <p:nvPr/>
        </p:nvSpPr>
        <p:spPr>
          <a:xfrm>
            <a:off x="91440" y="5344047"/>
            <a:ext cx="62712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b="1" u="sng" noProof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Prediction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hu-HU" sz="1600" noProof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Based on new customer’s information, predict the best offer (NBA)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hu-HU" sz="1600" noProof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New customers have no history yet, so model falls back on demographics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hu-HU" sz="1600" noProof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Probability threshold: no offer if even the best one is unlikely to succeed</a:t>
            </a:r>
          </a:p>
          <a:p>
            <a:pPr lvl="1"/>
            <a:endParaRPr lang="hu-HU" sz="1600" noProof="1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lvl="1"/>
            <a:endParaRPr lang="hu-HU" sz="1600" noProof="1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lvl="1"/>
            <a:endParaRPr lang="hu-HU" sz="1600" noProof="1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3DA6D1EC-968A-2A90-CCD1-4E46079CD04F}"/>
              </a:ext>
            </a:extLst>
          </p:cNvPr>
          <p:cNvSpPr/>
          <p:nvPr/>
        </p:nvSpPr>
        <p:spPr>
          <a:xfrm>
            <a:off x="7056338" y="999087"/>
            <a:ext cx="4352544" cy="85219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76000"/>
            <a:r>
              <a:rPr lang="hu-HU" sz="1600" b="1" noProof="1"/>
              <a:t>Challenges and how I solved them:</a:t>
            </a:r>
            <a:endParaRPr lang="hu-HU" sz="1600" noProof="1"/>
          </a:p>
        </p:txBody>
      </p:sp>
      <p:pic>
        <p:nvPicPr>
          <p:cNvPr id="53" name="Graphic 52" descr="Hurdle with solid fill">
            <a:extLst>
              <a:ext uri="{FF2B5EF4-FFF2-40B4-BE49-F238E27FC236}">
                <a16:creationId xmlns:a16="http://schemas.microsoft.com/office/drawing/2014/main" id="{3C9DE290-0308-E002-F017-D243C45270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62800" y="1137183"/>
            <a:ext cx="576000" cy="5760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D2309C11-024B-6229-41C3-DDE2FE4A4AB9}"/>
              </a:ext>
            </a:extLst>
          </p:cNvPr>
          <p:cNvSpPr txBox="1"/>
          <p:nvPr/>
        </p:nvSpPr>
        <p:spPr>
          <a:xfrm>
            <a:off x="6360414" y="1846036"/>
            <a:ext cx="615391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b="1" u="sng" noProof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Noisy data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hu-HU" sz="1600" noProof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Offer ID key appeared in two different ways </a:t>
            </a:r>
            <a:r>
              <a:rPr lang="hu-HU" dirty="0">
                <a:solidFill>
                  <a:schemeClr val="accent6">
                    <a:lumMod val="50000"/>
                  </a:schemeClr>
                </a:solidFill>
              </a:rPr>
              <a:t>→</a:t>
            </a:r>
            <a:r>
              <a:rPr lang="hu-HU" sz="1600" noProof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 unified flags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hu-HU" sz="1600" noProof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Age 118 = missing </a:t>
            </a:r>
            <a:r>
              <a:rPr lang="hu-HU" dirty="0">
                <a:solidFill>
                  <a:schemeClr val="accent6">
                    <a:lumMod val="50000"/>
                  </a:schemeClr>
                </a:solidFill>
              </a:rPr>
              <a:t>→</a:t>
            </a:r>
            <a:r>
              <a:rPr lang="hu-HU" sz="1600" noProof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hu-HU" sz="1600" dirty="0" err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replaced</a:t>
            </a:r>
            <a:r>
              <a:rPr lang="hu-HU" sz="16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hu-HU" sz="1600" dirty="0" err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with</a:t>
            </a:r>
            <a:r>
              <a:rPr lang="hu-HU" sz="16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hu-HU" sz="1600" dirty="0" err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NaN</a:t>
            </a:r>
            <a:r>
              <a:rPr lang="hu-HU" sz="16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 (</a:t>
            </a:r>
            <a:r>
              <a:rPr lang="hu-HU" sz="1600" dirty="0" err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handled</a:t>
            </a:r>
            <a:r>
              <a:rPr lang="hu-HU" sz="16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hu-HU" sz="1600" dirty="0" err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by</a:t>
            </a:r>
            <a:r>
              <a:rPr lang="hu-HU" sz="1600" dirty="0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 ML)</a:t>
            </a:r>
            <a:endParaRPr lang="hu-HU" sz="1600" noProof="1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FF1A16A-C2A7-7516-F7F9-5FDA9FC68C53}"/>
              </a:ext>
            </a:extLst>
          </p:cNvPr>
          <p:cNvSpPr txBox="1"/>
          <p:nvPr/>
        </p:nvSpPr>
        <p:spPr>
          <a:xfrm>
            <a:off x="6360414" y="2825170"/>
            <a:ext cx="640308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b="1" u="sng" noProof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Define target variable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noProof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A completed offer only counts if the customer viewed it first</a:t>
            </a:r>
            <a:endParaRPr lang="hu-HU" sz="1600" noProof="1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noProof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Informational offers have no "completed" event</a:t>
            </a:r>
            <a:br>
              <a:rPr lang="hu-HU" sz="1600" noProof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</a:br>
            <a:r>
              <a:rPr lang="hu-HU" sz="1600" dirty="0">
                <a:solidFill>
                  <a:schemeClr val="accent6">
                    <a:lumMod val="50000"/>
                  </a:schemeClr>
                </a:solidFill>
              </a:rPr>
              <a:t>→  </a:t>
            </a:r>
            <a:r>
              <a:rPr lang="en-US" sz="1600" noProof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create conditions </a:t>
            </a:r>
            <a:r>
              <a:rPr lang="hu-HU" sz="1600" noProof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for</a:t>
            </a:r>
            <a:r>
              <a:rPr lang="en-US" sz="1600" noProof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 success</a:t>
            </a:r>
            <a:endParaRPr lang="hu-HU" sz="1600" noProof="1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C3A79DB-1E65-E9CA-1771-DE5CA8A704E8}"/>
              </a:ext>
            </a:extLst>
          </p:cNvPr>
          <p:cNvSpPr txBox="1"/>
          <p:nvPr/>
        </p:nvSpPr>
        <p:spPr>
          <a:xfrm>
            <a:off x="6360414" y="3902473"/>
            <a:ext cx="58315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b="1" u="sng" noProof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Proving value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noProof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No control group, so no true uplift → compared the NBA pick with the historical offers and with the best single offer (chosen on the train set)</a:t>
            </a:r>
            <a:endParaRPr lang="hu-HU" sz="1600" noProof="1">
              <a:solidFill>
                <a:schemeClr val="accent6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66" name="Chart 65">
            <a:extLst>
              <a:ext uri="{FF2B5EF4-FFF2-40B4-BE49-F238E27FC236}">
                <a16:creationId xmlns:a16="http://schemas.microsoft.com/office/drawing/2014/main" id="{683D33FC-F7AC-2F8A-A0CA-A375B0060A6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0920742"/>
              </p:ext>
            </p:extLst>
          </p:nvPr>
        </p:nvGraphicFramePr>
        <p:xfrm>
          <a:off x="6654655" y="4955486"/>
          <a:ext cx="4889210" cy="18068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BD14071-1CC2-B357-180E-0F04730BE47C}"/>
              </a:ext>
            </a:extLst>
          </p:cNvPr>
          <p:cNvCxnSpPr>
            <a:cxnSpLocks/>
          </p:cNvCxnSpPr>
          <p:nvPr/>
        </p:nvCxnSpPr>
        <p:spPr>
          <a:xfrm>
            <a:off x="6302502" y="821653"/>
            <a:ext cx="0" cy="5955358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D4D14FDA-79A8-7F5E-2316-A4194BF9762B}"/>
              </a:ext>
            </a:extLst>
          </p:cNvPr>
          <p:cNvSpPr txBox="1"/>
          <p:nvPr/>
        </p:nvSpPr>
        <p:spPr>
          <a:xfrm>
            <a:off x="9188087" y="6611779"/>
            <a:ext cx="28546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000" i="1" noProof="1">
                <a:solidFill>
                  <a:schemeClr val="accent6">
                    <a:lumMod val="50000"/>
                  </a:schemeClr>
                </a:solidFill>
                <a:latin typeface="Aptos" panose="020B0004020202020204" pitchFamily="34" charset="0"/>
              </a:rPr>
              <a:t>Created by Adam Francuz – 1 October 2026</a:t>
            </a:r>
          </a:p>
        </p:txBody>
      </p:sp>
    </p:spTree>
    <p:extLst>
      <p:ext uri="{BB962C8B-B14F-4D97-AF65-F5344CB8AC3E}">
        <p14:creationId xmlns:p14="http://schemas.microsoft.com/office/powerpoint/2010/main" val="3200057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438</Words>
  <Application>Microsoft Office PowerPoint</Application>
  <PresentationFormat>Widescreen</PresentationFormat>
  <Paragraphs>46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Francuz</dc:creator>
  <cp:lastModifiedBy>Adam Francuz</cp:lastModifiedBy>
  <cp:revision>5</cp:revision>
  <dcterms:created xsi:type="dcterms:W3CDTF">2026-09-30T16:46:58Z</dcterms:created>
  <dcterms:modified xsi:type="dcterms:W3CDTF">2026-10-01T18:10:13Z</dcterms:modified>
</cp:coreProperties>
</file>